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2"/>
  </p:notesMasterIdLst>
  <p:sldIdLst>
    <p:sldId id="256" r:id="rId2"/>
    <p:sldId id="258" r:id="rId3"/>
    <p:sldId id="265" r:id="rId4"/>
    <p:sldId id="266" r:id="rId5"/>
    <p:sldId id="267" r:id="rId6"/>
    <p:sldId id="259" r:id="rId7"/>
    <p:sldId id="263" r:id="rId8"/>
    <p:sldId id="264" r:id="rId9"/>
    <p:sldId id="261" r:id="rId10"/>
    <p:sldId id="25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74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9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B933F-384A-45EA-B673-223DFD1F0A6B}" type="datetimeFigureOut">
              <a:rPr lang="pl-PL" smtClean="0"/>
              <a:t>21.10.2020</a:t>
            </a:fld>
            <a:endParaRPr lang="pl-P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8E8064-6DD1-43EA-8B00-D24A9AA12C5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47944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9279010-D459-4D32-8002-86AB36C0148F}" type="datetime1">
              <a:rPr lang="en-US" smtClean="0"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5E6A-FC57-4976-9E8E-E98A8CB0039F}" type="datetime1">
              <a:rPr lang="en-US" smtClean="0"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3F68-81DC-42BA-B850-EFDF143D9C05}" type="datetime1">
              <a:rPr lang="en-US" smtClean="0"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A567-203F-42DC-9732-FD75FC519066}" type="datetime1">
              <a:rPr lang="en-US" smtClean="0"/>
              <a:t>10/21/2020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46997-31B9-456B-8131-869F3861A92A}" type="datetime1">
              <a:rPr lang="en-US" smtClean="0"/>
              <a:t>10/21/2020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FB936-55E7-4F5C-B9E2-1E8C7B85C1C9}" type="datetime1">
              <a:rPr lang="en-US" smtClean="0"/>
              <a:t>10/21/2020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B2E1-9AEB-4443-87B0-9DBFA1B60B08}" type="datetime1">
              <a:rPr lang="en-US" smtClean="0"/>
              <a:t>10/21/2020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5D768-AE31-4AE5-BA90-BCDDA2C20DC3}" type="datetime1">
              <a:rPr lang="en-US" smtClean="0"/>
              <a:t>10/21/2020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4552-191C-4C3A-8113-1FF05F9A3BE7}" type="datetime1">
              <a:rPr lang="en-US" smtClean="0"/>
              <a:t>10/21/2020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92DF-87F7-4DE4-AC2F-3A1353819804}" type="datetime1">
              <a:rPr lang="en-US" smtClean="0"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38C39-F90B-4E16-9CC8-3AF69DB0DE76}" type="datetime1">
              <a:rPr lang="en-US" smtClean="0"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FFF1D2-9C53-4939-BE4C-6A91C2C11D30}" type="datetime1">
              <a:rPr lang="en-US" smtClean="0"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46560-A11F-47BF-B218-71B10C4E7D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l-PL" sz="4000" dirty="0"/>
              <a:t>Powierzchnia funkcji strat dla sieci głębokich i szerokich. W poszukiwaniu minimum globalnego.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A32C54-0DD6-4CA6-A0BF-2EA686B87E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l-PL" dirty="0"/>
              <a:t>Patryk Węgrzyn</a:t>
            </a:r>
          </a:p>
          <a:p>
            <a:r>
              <a:rPr lang="pl-PL" dirty="0"/>
              <a:t>Opiekun: prof. dr. hab. inż. Witold Dzwinel</a:t>
            </a:r>
          </a:p>
          <a:p>
            <a:r>
              <a:rPr lang="pl-PL" dirty="0"/>
              <a:t>Prezentacja I</a:t>
            </a:r>
          </a:p>
          <a:p>
            <a:endParaRPr lang="pl-P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2DA68-D427-4129-A899-6695401B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FAB73BC-B049-4115-A692-8D63A059BFB8}" type="slidenum">
              <a:rPr lang="en-US" smtClean="0"/>
              <a:pPr/>
              <a:t>1</a:t>
            </a:fld>
            <a:r>
              <a:rPr lang="pl-PL" dirty="0"/>
              <a:t>/10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202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E07D9-8D47-4739-8EC1-A95191E0D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Problematyka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83533-35D2-42F5-822C-B75B62C4A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Geometria funkcji strat w sieciach neuronowych – zazwyczaj bardzo skomplikowana</a:t>
            </a:r>
          </a:p>
          <a:p>
            <a:r>
              <a:rPr lang="pl-PL" dirty="0"/>
              <a:t>Jaki wpływ na powierzchnię funkcji ma architektura sieci?</a:t>
            </a:r>
          </a:p>
          <a:p>
            <a:r>
              <a:rPr lang="pl-PL" dirty="0"/>
              <a:t>Jaki wpływ ma liczba parametrów?</a:t>
            </a:r>
          </a:p>
          <a:p>
            <a:r>
              <a:rPr lang="pl-PL" dirty="0"/>
              <a:t>Jak geometria funkcji strat wiąże się z możliwościami generalizacyjnymi sieci?</a:t>
            </a:r>
          </a:p>
          <a:p>
            <a:endParaRPr lang="pl-PL" dirty="0"/>
          </a:p>
          <a:p>
            <a:pPr marL="0" indent="0">
              <a:buNone/>
            </a:pPr>
            <a:endParaRPr lang="pl-P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453FB-BDC6-48C3-9390-A558F4285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FAB73BC-B049-4115-A692-8D63A059BFB8}" type="slidenum">
              <a:rPr lang="en-US" smtClean="0"/>
              <a:t>2</a:t>
            </a:fld>
            <a:r>
              <a:rPr lang="pl-PL" dirty="0"/>
              <a:t>/10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193ED4-684B-4668-8D24-91AB43471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901" y="4004468"/>
            <a:ext cx="6310695" cy="22364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3A511F-4390-41AD-A58B-EDDD9D38D631}"/>
              </a:ext>
            </a:extLst>
          </p:cNvPr>
          <p:cNvSpPr txBox="1"/>
          <p:nvPr/>
        </p:nvSpPr>
        <p:spPr>
          <a:xfrm>
            <a:off x="1918170" y="6317615"/>
            <a:ext cx="43476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050" dirty="0"/>
              <a:t>Źródło rys. </a:t>
            </a:r>
            <a:r>
              <a:rPr lang="en-US" sz="1050" dirty="0"/>
              <a:t>Visualizing the Loss Landscape of Neural Nets</a:t>
            </a:r>
            <a:r>
              <a:rPr lang="pl-PL" sz="1050" dirty="0"/>
              <a:t>, Li et al.</a:t>
            </a:r>
          </a:p>
        </p:txBody>
      </p:sp>
    </p:spTree>
    <p:extLst>
      <p:ext uri="{BB962C8B-B14F-4D97-AF65-F5344CB8AC3E}">
        <p14:creationId xmlns:p14="http://schemas.microsoft.com/office/powerpoint/2010/main" val="4028358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F7605-C35F-426F-BA54-FE80F5C07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Wpływ połączeń typu </a:t>
            </a:r>
            <a:r>
              <a:rPr lang="pl-PL" i="1" dirty="0"/>
              <a:t>residual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C265E-5863-4424-A8B9-60DD05045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FAB73BC-B049-4115-A692-8D63A059BFB8}" type="slidenum">
              <a:rPr lang="en-US" smtClean="0"/>
              <a:t>3</a:t>
            </a:fld>
            <a:r>
              <a:rPr lang="pl-PL" dirty="0"/>
              <a:t>/10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DF3C88-1F22-4993-BF48-DF7810D38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548" y="2281349"/>
            <a:ext cx="7254494" cy="2914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60CBD3-2207-4AC2-B360-887D7A55C67A}"/>
              </a:ext>
            </a:extLst>
          </p:cNvPr>
          <p:cNvSpPr txBox="1"/>
          <p:nvPr/>
        </p:nvSpPr>
        <p:spPr>
          <a:xfrm>
            <a:off x="1983441" y="5520018"/>
            <a:ext cx="45640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100" dirty="0"/>
              <a:t>Źródło rys. </a:t>
            </a:r>
            <a:r>
              <a:rPr lang="en-US" sz="1100" dirty="0"/>
              <a:t>Visualizing the Loss Landscape of Neural Nets</a:t>
            </a:r>
            <a:r>
              <a:rPr lang="pl-PL" sz="1100" dirty="0"/>
              <a:t>, Li et al.</a:t>
            </a:r>
          </a:p>
        </p:txBody>
      </p:sp>
    </p:spTree>
    <p:extLst>
      <p:ext uri="{BB962C8B-B14F-4D97-AF65-F5344CB8AC3E}">
        <p14:creationId xmlns:p14="http://schemas.microsoft.com/office/powerpoint/2010/main" val="1105655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EB2C8-F439-41A0-ACA2-FBEAB76E6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Ścieżki o stałej wartości straty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B518A-1B45-40D3-896E-0E2790816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FAB73BC-B049-4115-A692-8D63A059BFB8}" type="slidenum">
              <a:rPr lang="en-US" smtClean="0"/>
              <a:t>4</a:t>
            </a:fld>
            <a:r>
              <a:rPr lang="pl-PL" dirty="0"/>
              <a:t>/10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E4CF3B-8B1A-4F6C-BE85-0E1621C24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63" y="2635472"/>
            <a:ext cx="10003247" cy="21516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D5AB3D-556A-4C3B-B56E-3117621A5478}"/>
              </a:ext>
            </a:extLst>
          </p:cNvPr>
          <p:cNvSpPr txBox="1"/>
          <p:nvPr/>
        </p:nvSpPr>
        <p:spPr>
          <a:xfrm>
            <a:off x="2335683" y="4787153"/>
            <a:ext cx="6154249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100" dirty="0"/>
              <a:t>Źródło rys. </a:t>
            </a:r>
            <a:r>
              <a:rPr lang="en-US" sz="1100" dirty="0"/>
              <a:t>Loss Surfaces, Mode Connectivity, and Fast </a:t>
            </a:r>
            <a:r>
              <a:rPr lang="en-US" sz="1100" dirty="0" err="1"/>
              <a:t>Ensembling</a:t>
            </a:r>
            <a:r>
              <a:rPr lang="en-US" sz="1100" dirty="0"/>
              <a:t> of DNNs</a:t>
            </a:r>
            <a:r>
              <a:rPr lang="pl-PL" sz="1100" dirty="0"/>
              <a:t>, Garipov et al.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17267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45812-AF08-409E-8C40-63EE77DF0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Fast Geomtric Ensembling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14023-5744-4E3C-98E2-D8FFC4303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FAB73BC-B049-4115-A692-8D63A059BFB8}" type="slidenum">
              <a:rPr lang="en-US" smtClean="0"/>
              <a:t>5</a:t>
            </a:fld>
            <a:r>
              <a:rPr lang="pl-PL" dirty="0"/>
              <a:t>/10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913AAB-0041-473B-B769-1A28DB16A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46" y="2048203"/>
            <a:ext cx="9598519" cy="28657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B23396-4E75-4879-81AA-B443A6C30A3F}"/>
              </a:ext>
            </a:extLst>
          </p:cNvPr>
          <p:cNvSpPr txBox="1"/>
          <p:nvPr/>
        </p:nvSpPr>
        <p:spPr>
          <a:xfrm>
            <a:off x="2003699" y="4841815"/>
            <a:ext cx="58689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050" dirty="0"/>
              <a:t>Źródło rys. </a:t>
            </a:r>
            <a:r>
              <a:rPr lang="en-US" sz="1050" dirty="0"/>
              <a:t>Loss Surfaces, Mode Connectivity, and Fast </a:t>
            </a:r>
            <a:r>
              <a:rPr lang="en-US" sz="1050" dirty="0" err="1"/>
              <a:t>Ensembling</a:t>
            </a:r>
            <a:r>
              <a:rPr lang="en-US" sz="1050" dirty="0"/>
              <a:t> of DNNs</a:t>
            </a:r>
            <a:r>
              <a:rPr lang="pl-PL" sz="1050" dirty="0"/>
              <a:t>, Garipov et al.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C0571F-B21F-4E63-B188-518729FD4F68}"/>
              </a:ext>
            </a:extLst>
          </p:cNvPr>
          <p:cNvSpPr txBox="1"/>
          <p:nvPr/>
        </p:nvSpPr>
        <p:spPr>
          <a:xfrm>
            <a:off x="922004" y="5634841"/>
            <a:ext cx="92256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W porównaniu do SSE: mamy krótsze cykle, bo wiemy że nawet małe kroki znajdują </a:t>
            </a:r>
          </a:p>
          <a:p>
            <a:r>
              <a:rPr lang="pl-PL" dirty="0"/>
              <a:t>parametry o faktycznie różnej interpretacji</a:t>
            </a:r>
          </a:p>
        </p:txBody>
      </p:sp>
    </p:spTree>
    <p:extLst>
      <p:ext uri="{BB962C8B-B14F-4D97-AF65-F5344CB8AC3E}">
        <p14:creationId xmlns:p14="http://schemas.microsoft.com/office/powerpoint/2010/main" val="2446012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9D9FB-82E5-4864-80AB-094823DB8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Problem do rozwiązania </a:t>
            </a:r>
            <a:br>
              <a:rPr lang="pl-PL" dirty="0"/>
            </a:br>
            <a:r>
              <a:rPr lang="pl-PL" dirty="0"/>
              <a:t>(cel merytoryczny pracy)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187D5-85F0-448F-B3F5-093DDD439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Zbadanie wpływu architektury sieci na geometrię funkcji start</a:t>
            </a:r>
          </a:p>
          <a:p>
            <a:r>
              <a:rPr lang="pl-PL" dirty="0"/>
              <a:t>Zbadanie czy regiony/ścieżki o stałej wartości występują również dla sieci bardzo głębokich</a:t>
            </a:r>
          </a:p>
          <a:p>
            <a:r>
              <a:rPr lang="pl-PL" dirty="0"/>
              <a:t>Wizualizacja powierzchni funkcji strat dla różnych architektur i głębokości modeli</a:t>
            </a:r>
          </a:p>
          <a:p>
            <a:r>
              <a:rPr lang="pl-PL" dirty="0"/>
              <a:t>Postawienie hipotezy o możliwościach generalizacji sieci w warunkach jej permanentnego overfittingu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94254-9F31-43C8-B592-1B9EC13EB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FAB73BC-B049-4115-A692-8D63A059BFB8}" type="slidenum">
              <a:rPr lang="en-US" smtClean="0"/>
              <a:t>6</a:t>
            </a:fld>
            <a:r>
              <a:rPr lang="pl-PL" dirty="0"/>
              <a:t>/10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347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92A0F-6A8C-4569-8CE9-434510660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Metody i narzędzia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AFD7E-3F07-4AFC-9F3C-1F3EF17AF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Wstępne trenowanie i ewaluacja sieci na lokalnym środowisku</a:t>
            </a:r>
          </a:p>
          <a:p>
            <a:r>
              <a:rPr lang="pl-PL" dirty="0"/>
              <a:t>Trenowanie i ewaluacja sieci na środowisku klastra obliczeniowego</a:t>
            </a:r>
          </a:p>
          <a:p>
            <a:r>
              <a:rPr lang="pl-PL" dirty="0"/>
              <a:t>Zwizualizowanie funkcji strat wytrenowanych sieci</a:t>
            </a:r>
          </a:p>
          <a:p>
            <a:r>
              <a:rPr lang="pl-PL" dirty="0"/>
              <a:t>Wykorzystanie metody FGE</a:t>
            </a:r>
          </a:p>
          <a:p>
            <a:endParaRPr lang="pl-PL" dirty="0"/>
          </a:p>
          <a:p>
            <a:endParaRPr lang="pl-PL" dirty="0"/>
          </a:p>
          <a:p>
            <a:r>
              <a:rPr lang="pl-PL" dirty="0"/>
              <a:t>Narzędzia: Python, PyTorch, Jupyer Lab, Docker, etc.</a:t>
            </a:r>
          </a:p>
          <a:p>
            <a:r>
              <a:rPr lang="pl-PL" dirty="0"/>
              <a:t>Architektury sieci: CNN lub Feedforward – ResNet/DenseNet, VGG</a:t>
            </a:r>
          </a:p>
          <a:p>
            <a:r>
              <a:rPr lang="pl-PL" dirty="0"/>
              <a:t>Zbiory danych: CIFAR-10, CIFAR-100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3754D-667F-4F16-A906-2349DF353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FAB73BC-B049-4115-A692-8D63A059BFB8}" type="slidenum">
              <a:rPr lang="en-US" smtClean="0"/>
              <a:t>7</a:t>
            </a:fld>
            <a:r>
              <a:rPr lang="pl-PL" dirty="0"/>
              <a:t>/10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210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1D680-72EB-486B-8A7E-53AE84BB8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Wstępny plan realizacji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B6D6D-0283-4093-9F4B-BB106B535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pl-PL" dirty="0"/>
              <a:t>Faza badań, zapoznania się z obecną literaturą, zaplanowanie dalszej pracy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Wybór i opis metodolgii przeprowadzania testów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Przeprowadzenie testów dla wybranch architektur sieci i zbiorów danych – obserwacje pod kątem wpływu architektury/ilości parametrów na powierzchnię funkcji strat i możliwości generalizacji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(Potencjalnie) Przeprowadzenie testów badających wpływ symterii sieci na jakość znajdywanych minimów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Interpretacja otrzymanych wyników na podstawie istniejących teorii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Przedstawienie wniosków, prób postawienia hipotez i argumentacja o ich poprawności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335A6-B252-47FF-9BEA-CED652F86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FAB73BC-B049-4115-A692-8D63A059BFB8}" type="slidenum">
              <a:rPr lang="en-US" smtClean="0"/>
              <a:t>8</a:t>
            </a:fld>
            <a:r>
              <a:rPr lang="pl-PL" dirty="0"/>
              <a:t>/10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048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C0A00-9475-4159-8770-15A2DC46A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Potencjalne problemy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B66DA-3232-4289-A9F4-EA7E3DD7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Nierzetelne przeprowadzenie testów, brak jednolitej metodologii do eksperymentów, zmienne kryteria i warunki środowiskowe</a:t>
            </a:r>
          </a:p>
          <a:p>
            <a:r>
              <a:rPr lang="pl-PL" dirty="0"/>
              <a:t>Wyniki sugerujące sprzeczne wnioski</a:t>
            </a:r>
          </a:p>
          <a:p>
            <a:r>
              <a:rPr lang="pl-PL" dirty="0"/>
              <a:t>Błędna interpretecja otrzymanych wyników</a:t>
            </a:r>
          </a:p>
          <a:p>
            <a:r>
              <a:rPr lang="pl-PL" dirty="0"/>
              <a:t>Błędne postawienie hipotezy</a:t>
            </a:r>
          </a:p>
          <a:p>
            <a:endParaRPr lang="pl-P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15083-7472-40ED-858F-725A78B0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FAB73BC-B049-4115-A692-8D63A059BFB8}" type="slidenum">
              <a:rPr lang="en-US" smtClean="0"/>
              <a:t>9</a:t>
            </a:fld>
            <a:r>
              <a:rPr lang="pl-PL" dirty="0"/>
              <a:t>/10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411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1139EE-0970-477F-BCD2-7C33C7363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Dziękuję za uwagę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902C2F-4C77-447E-AA74-0EF23FB1F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  <a:p>
            <a:r>
              <a:rPr lang="pl-PL" dirty="0"/>
              <a:t>Źródła:</a:t>
            </a:r>
          </a:p>
          <a:p>
            <a:pPr lvl="1"/>
            <a:r>
              <a:rPr lang="en-US" i="1" dirty="0"/>
              <a:t>Loss Surfaces, Mode Connectivity,</a:t>
            </a:r>
            <a:r>
              <a:rPr lang="pl-PL" i="1" dirty="0"/>
              <a:t> </a:t>
            </a:r>
            <a:r>
              <a:rPr lang="en-US" i="1" dirty="0"/>
              <a:t>and Fast </a:t>
            </a:r>
            <a:r>
              <a:rPr lang="en-US" i="1" dirty="0" err="1"/>
              <a:t>Ensembling</a:t>
            </a:r>
            <a:r>
              <a:rPr lang="en-US" i="1" dirty="0"/>
              <a:t> of DNNs</a:t>
            </a:r>
            <a:r>
              <a:rPr lang="pl-PL" dirty="0"/>
              <a:t>; Garipov et al.</a:t>
            </a:r>
          </a:p>
          <a:p>
            <a:pPr lvl="1"/>
            <a:r>
              <a:rPr lang="en-US" i="1" dirty="0"/>
              <a:t>The Loss Surface of Deep and Wide Neural Networks</a:t>
            </a:r>
            <a:r>
              <a:rPr lang="pl-PL" dirty="0"/>
              <a:t>; Nguyen et al.</a:t>
            </a:r>
          </a:p>
          <a:p>
            <a:pPr lvl="1"/>
            <a:r>
              <a:rPr lang="en-US" i="1" dirty="0"/>
              <a:t>Visualizing the Loss Landscape of Neural Nets</a:t>
            </a:r>
            <a:r>
              <a:rPr lang="pl-PL" dirty="0"/>
              <a:t>; Li et al.</a:t>
            </a:r>
          </a:p>
          <a:p>
            <a:pPr lvl="1"/>
            <a:r>
              <a:rPr lang="en-US" i="1" dirty="0"/>
              <a:t>Local Minima and Plateaus in Hierarchical</a:t>
            </a:r>
            <a:r>
              <a:rPr lang="pl-PL" i="1" dirty="0"/>
              <a:t> </a:t>
            </a:r>
            <a:r>
              <a:rPr lang="en-US" i="1" dirty="0"/>
              <a:t>Structures of Multilayer </a:t>
            </a:r>
            <a:r>
              <a:rPr lang="en-US" i="1" dirty="0" err="1"/>
              <a:t>Perceptrons</a:t>
            </a:r>
            <a:r>
              <a:rPr lang="pl-PL" dirty="0"/>
              <a:t>; Fukumizu et al.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pl-P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B04B8-1789-4931-BBA6-0C159327D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0000" lnSpcReduction="20000"/>
          </a:bodyPr>
          <a:lstStyle/>
          <a:p>
            <a:fld id="{4FAB73BC-B049-4115-A692-8D63A059BFB8}" type="slidenum">
              <a:rPr lang="en-US" smtClean="0"/>
              <a:t>10</a:t>
            </a:fld>
            <a:r>
              <a:rPr lang="pl-PL" dirty="0"/>
              <a:t>/10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115656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10940</TotalTime>
  <Words>466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Schoolbook</vt:lpstr>
      <vt:lpstr>Wingdings 2</vt:lpstr>
      <vt:lpstr>View</vt:lpstr>
      <vt:lpstr>Powierzchnia funkcji strat dla sieci głębokich i szerokich. W poszukiwaniu minimum globalnego.</vt:lpstr>
      <vt:lpstr>Problematyka</vt:lpstr>
      <vt:lpstr>Wpływ połączeń typu residual</vt:lpstr>
      <vt:lpstr>Ścieżki o stałej wartości straty</vt:lpstr>
      <vt:lpstr>Fast Geomtric Ensembling</vt:lpstr>
      <vt:lpstr>Problem do rozwiązania  (cel merytoryczny pracy)</vt:lpstr>
      <vt:lpstr>Metody i narzędzia</vt:lpstr>
      <vt:lpstr>Wstępny plan realizacji projektu</vt:lpstr>
      <vt:lpstr>Potencjalne problemy</vt:lpstr>
      <vt:lpstr>Dziękuję za uwagę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Powierzchnia funkcji strat dla sieci głębokich i szerokich. W poszukiwaniu minimum globalnego.</dc:title>
  <dc:creator>Patryk Węgrzyn</dc:creator>
  <cp:lastModifiedBy>Patryk Węgrzyn</cp:lastModifiedBy>
  <cp:revision>17</cp:revision>
  <dcterms:created xsi:type="dcterms:W3CDTF">2020-10-19T22:37:28Z</dcterms:created>
  <dcterms:modified xsi:type="dcterms:W3CDTF">2020-10-27T13:00:53Z</dcterms:modified>
</cp:coreProperties>
</file>